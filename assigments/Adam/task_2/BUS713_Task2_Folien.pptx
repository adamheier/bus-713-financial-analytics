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68029d3-92d1-36b1-d668-349c07215731}">
          <p14:sldIdLst>
            <p14:sldId id="256"/>
          </p14:sldIdLst>
        </p14:section>
        <p14:section name="Closing" id="{73439f31-7f69-9839-5cd8-1f8a09bfc50c}">
          <p14:sldIdLst>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Adam Heier, and this is my student ID. Today I'm answering two questions. First, for our portfolio manager: what risk and return should we expect from NVIDIA and Intel, does holding both diversify, where is Intel heading, and how could we protect that position? Second, for management: should the firm invest half a million dollars in a five-year project? Everything comes from one R script, which I'll run section by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bring the findings together. For the portfolio manager: both stocks roughly double the market's moves. Both plot above the SML, but only NVIDIA's outperformance is statistically reliable. Holding both lowers total risk, not market risk, and Intel's price isn't forecastable six months out. My recommendation: hold them as a satellite position, not the core, with more NVIDIA and a smaller Intel position protected with puts after its rally, and size it knowing that a ten percent market fall means about nineteen percent for these two. For management: reject the project on current terms. It only returns its cost and destroys value in almost ninety-nine percent of simulated futures. Revisit it only if the investment falls below 380 thousand dollars or the project carries an option to expand or abandon. The main caveat: five years that included an AI boom and an extreme rally drive all of this; a different window would give different betas.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EAL_CARDS-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EAL_CARDS">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9184"/>
            <a:ext cx="11274552" cy="1024128"/>
          </a:xfrm>
          <a:prstGeom prst="rect">
            <a:avLst/>
          </a:prstGeom>
          <a:noFill/>
          <a:ln/>
        </p:spPr>
        <p:txBody>
          <a:bodyPr wrap="square" rtlCol="0"/>
          <a:lstStyle>
            <a:lvl1pPr algn="ctr" indent="0" marL="0">
              <a:buNone/>
              <a:defRPr lang="en-US" sz="6400" b="1" dirty="0">
                <a:solidFill>
                  <a:schemeClr val="accent1"/>
                </a:solidFill>
              </a:defRPr>
            </a:lvl1pPr>
          </a:lstStyle>
          <a:p>
            <a:pPr algn="ctr" indent="0" marL="0">
              <a:buNone/>
            </a:pPr>
            <a:endParaRPr lang="en-US" sz="6400" dirty="0"/>
          </a:p>
        </p:txBody>
      </p:sp>
      <p:sp>
        <p:nvSpPr>
          <p:cNvPr id="3" name="Text 0"/>
          <p:cNvSpPr/>
          <p:nvPr/>
        </p:nvSpPr>
        <p:spPr>
          <a:xfrm>
            <a:off x="457200" y="6473952"/>
            <a:ext cx="11274552" cy="292608"/>
          </a:xfrm>
          <a:prstGeom prst="rect">
            <a:avLst/>
          </a:prstGeom>
          <a:noFill/>
          <a:ln/>
        </p:spPr>
        <p:txBody>
          <a:bodyPr wrap="square" lIns="0" tIns="0" rIns="0" bIns="0" rtlCol="0" anchor="ctr"/>
          <a:lstStyle/>
          <a:p>
            <a:pPr algn="ctr" indent="0" marL="0">
              <a:buNone/>
            </a:pPr>
            <a:r>
              <a:rPr lang="en-US" sz="1200" dirty="0">
                <a:solidFill>
                  <a:schemeClr val="tx1"/>
                </a:solidFill>
              </a:rPr>
              <a:t>Adam Heier - BUS 713 Financial Analytics - Task 2</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2.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29184"/>
            <a:ext cx="11274552" cy="1024128"/>
          </a:xfrm>
          <a:prstGeom prst="rect">
            <a:avLst/>
          </a:prstGeom>
          <a:noFill/>
          <a:ln/>
        </p:spPr>
        <p:txBody>
          <a:bodyPr wrap="square" lIns="0" tIns="0" rIns="0" bIns="0" rtlCol="0" anchor="ctr"/>
          <a:lstStyle/>
          <a:p>
            <a:pPr algn="ctr" indent="0" marL="0">
              <a:buNone/>
            </a:pPr>
            <a:r>
              <a:rPr lang="en-US" sz="6400" b="1" dirty="0">
                <a:solidFill>
                  <a:schemeClr val="accent1"/>
                </a:solidFill>
              </a:rPr>
              <a:t>Two Questions</a:t>
            </a:r>
            <a:endParaRPr lang="en-US" sz="6400" dirty="0"/>
          </a:p>
        </p:txBody>
      </p:sp>
      <p:sp>
        <p:nvSpPr>
          <p:cNvPr id="3" name="card_grad_1"/>
          <p:cNvSpPr/>
          <p:nvPr/>
        </p:nvSpPr>
        <p:spPr>
          <a:xfrm>
            <a:off x="694944" y="1508760"/>
            <a:ext cx="3493008" cy="4818888"/>
          </a:xfrm>
          <a:prstGeom prst="roundRect">
            <a:avLst>
              <a:gd name="adj" fmla="val 9424"/>
            </a:avLst>
          </a:prstGeom>
          <a:gradFill rotWithShape="1">
            <a:gsLst>
              <a:gs pos="0">
                <a:srgbClr val="469FAC"/>
              </a:gs>
              <a:gs pos="100000">
                <a:srgbClr val="63B4B6"/>
              </a:gs>
            </a:gsLst>
            <a:lin ang="0" scaled="1"/>
          </a:gradFill>
          <a:ln/>
        </p:spPr>
      </p:sp>
      <p:sp>
        <p:nvSpPr>
          <p:cNvPr id="4" name="card_grad_2"/>
          <p:cNvSpPr/>
          <p:nvPr/>
        </p:nvSpPr>
        <p:spPr>
          <a:xfrm>
            <a:off x="4352544" y="1508760"/>
            <a:ext cx="3493008" cy="4818888"/>
          </a:xfrm>
          <a:prstGeom prst="roundRect">
            <a:avLst>
              <a:gd name="adj" fmla="val 9424"/>
            </a:avLst>
          </a:prstGeom>
          <a:gradFill rotWithShape="1">
            <a:gsLst>
              <a:gs pos="0">
                <a:srgbClr val="8EBFC7"/>
              </a:gs>
              <a:gs pos="100000">
                <a:srgbClr val="9FCCCF"/>
              </a:gs>
            </a:gsLst>
            <a:lin ang="0" scaled="1"/>
          </a:gradFill>
          <a:ln/>
        </p:spPr>
      </p:sp>
      <p:sp>
        <p:nvSpPr>
          <p:cNvPr id="5" name="card_grad_3"/>
          <p:cNvSpPr/>
          <p:nvPr/>
        </p:nvSpPr>
        <p:spPr>
          <a:xfrm>
            <a:off x="8010144" y="1508760"/>
            <a:ext cx="3493008" cy="4818888"/>
          </a:xfrm>
          <a:prstGeom prst="roundRect">
            <a:avLst>
              <a:gd name="adj" fmla="val 9424"/>
            </a:avLst>
          </a:prstGeom>
          <a:gradFill rotWithShape="1">
            <a:gsLst>
              <a:gs pos="0">
                <a:srgbClr val="CFE1E4"/>
              </a:gs>
              <a:gs pos="100000">
                <a:srgbClr val="D9E9E8"/>
              </a:gs>
            </a:gsLst>
            <a:lin ang="0" scaled="1"/>
          </a:gradFill>
          <a:ln/>
        </p:spPr>
      </p:sp>
      <p:sp>
        <p:nvSpPr>
          <p:cNvPr id="6" name="logo_box_q1"/>
          <p:cNvSpPr/>
          <p:nvPr/>
        </p:nvSpPr>
        <p:spPr>
          <a:xfrm>
            <a:off x="1143000" y="1737360"/>
            <a:ext cx="2596896" cy="1463040"/>
          </a:xfrm>
          <a:prstGeom prst="rect">
            <a:avLst/>
          </a:prstGeom>
          <a:solidFill>
            <a:schemeClr val="bg1"/>
          </a:solidFill>
          <a:ln/>
        </p:spPr>
      </p:sp>
      <p:pic>
        <p:nvPicPr>
          <p:cNvPr id="7" name="NVIDIA logo" descr="NVIDIA logo">    </p:cNvPr>
          <p:cNvPicPr>
            <a:picLocks noChangeAspect="1"/>
          </p:cNvPicPr>
          <p:nvPr/>
        </p:nvPicPr>
        <p:blipFill>
          <a:blip r:embed="rId1"/>
          <a:stretch>
            <a:fillRect/>
          </a:stretch>
        </p:blipFill>
        <p:spPr>
          <a:xfrm>
            <a:off x="1216152" y="1856232"/>
            <a:ext cx="1188720" cy="868010"/>
          </a:xfrm>
          <a:prstGeom prst="rect">
            <a:avLst/>
          </a:prstGeom>
        </p:spPr>
      </p:pic>
      <p:pic>
        <p:nvPicPr>
          <p:cNvPr id="8" name="Intel logo" descr="Intel logo">    </p:cNvPr>
          <p:cNvPicPr>
            <a:picLocks noChangeAspect="1"/>
          </p:cNvPicPr>
          <p:nvPr/>
        </p:nvPicPr>
        <p:blipFill>
          <a:blip r:embed="rId2"/>
          <a:stretch>
            <a:fillRect/>
          </a:stretch>
        </p:blipFill>
        <p:spPr>
          <a:xfrm>
            <a:off x="2496312" y="1938528"/>
            <a:ext cx="1188720" cy="786037"/>
          </a:xfrm>
          <a:prstGeom prst="rect">
            <a:avLst/>
          </a:prstGeom>
        </p:spPr>
      </p:pic>
      <p:pic>
        <p:nvPicPr>
          <p:cNvPr id="9" name="Intel logo" descr="Intel logo">    </p:cNvPr>
          <p:cNvPicPr>
            <a:picLocks noChangeAspect="1"/>
          </p:cNvPicPr>
          <p:nvPr/>
        </p:nvPicPr>
        <p:blipFill>
          <a:blip r:embed="rId3"/>
          <a:stretch>
            <a:fillRect/>
          </a:stretch>
        </p:blipFill>
        <p:spPr>
          <a:xfrm>
            <a:off x="4992624" y="1737360"/>
            <a:ext cx="2212848" cy="1463238"/>
          </a:xfrm>
          <a:prstGeom prst="rect">
            <a:avLst/>
          </a:prstGeom>
        </p:spPr>
      </p:pic>
      <p:sp>
        <p:nvSpPr>
          <p:cNvPr id="10" name="project_box"/>
          <p:cNvSpPr/>
          <p:nvPr/>
        </p:nvSpPr>
        <p:spPr>
          <a:xfrm>
            <a:off x="8650224" y="1737360"/>
            <a:ext cx="2212848" cy="1463040"/>
          </a:xfrm>
          <a:prstGeom prst="rect">
            <a:avLst/>
          </a:prstGeom>
          <a:solidFill>
            <a:schemeClr val="bg1"/>
          </a:solidFill>
          <a:ln/>
        </p:spPr>
      </p:sp>
      <p:sp>
        <p:nvSpPr>
          <p:cNvPr id="11" name="project_box_text"/>
          <p:cNvSpPr txBox="1"/>
          <p:nvPr/>
        </p:nvSpPr>
        <p:spPr>
          <a:xfrm>
            <a:off x="8650224" y="1737360"/>
            <a:ext cx="2212848" cy="1463040"/>
          </a:xfrm>
          <a:prstGeom prst="rect">
            <a:avLst/>
          </a:prstGeom>
          <a:noFill/>
          <a:ln/>
        </p:spPr>
        <p:txBody>
          <a:bodyPr wrap="square" lIns="0" tIns="0" rIns="0" bIns="0" rtlCol="0" anchor="ctr"/>
          <a:lstStyle/>
          <a:p>
            <a:pPr algn="ctr" indent="0" marL="0">
              <a:buNone/>
            </a:pPr>
            <a:r>
              <a:rPr lang="en-US" sz="3400" b="1" dirty="0">
                <a:solidFill>
                  <a:schemeClr val="accent1"/>
                </a:solidFill>
              </a:rPr>
              <a:t>$500,000</a:t>
            </a:r>
            <a:endParaRPr lang="en-US" sz="3400" dirty="0"/>
          </a:p>
          <a:p>
            <a:pPr algn="ctr" indent="0" marL="0">
              <a:buNone/>
            </a:pPr>
            <a:r>
              <a:rPr lang="en-US" sz="1500" dirty="0">
                <a:solidFill>
                  <a:schemeClr val="tx2"/>
                </a:solidFill>
              </a:rPr>
              <a:t>five-year project</a:t>
            </a:r>
            <a:endParaRPr lang="en-US" sz="3400" dirty="0"/>
          </a:p>
        </p:txBody>
      </p:sp>
      <p:sp>
        <p:nvSpPr>
          <p:cNvPr id="12" name="header_1"/>
          <p:cNvSpPr txBox="1"/>
          <p:nvPr/>
        </p:nvSpPr>
        <p:spPr>
          <a:xfrm>
            <a:off x="1024128" y="3493008"/>
            <a:ext cx="2834640" cy="384048"/>
          </a:xfrm>
          <a:prstGeom prst="rect">
            <a:avLst/>
          </a:prstGeom>
          <a:noFill/>
          <a:ln/>
        </p:spPr>
        <p:txBody>
          <a:bodyPr wrap="square" lIns="0" tIns="0" rIns="0" bIns="0" rtlCol="0" anchor="ctr"/>
          <a:lstStyle/>
          <a:p>
            <a:pPr indent="0" marL="0">
              <a:buNone/>
            </a:pPr>
            <a:r>
              <a:rPr lang="en-US" sz="1700" b="1" dirty="0">
                <a:solidFill>
                  <a:schemeClr val="bg1"/>
                </a:solidFill>
              </a:rPr>
              <a:t>Q1 · Risk &amp; Return</a:t>
            </a:r>
            <a:endParaRPr lang="en-US" sz="1700" dirty="0"/>
          </a:p>
        </p:txBody>
      </p:sp>
      <p:sp>
        <p:nvSpPr>
          <p:cNvPr id="13" name="header_2"/>
          <p:cNvSpPr txBox="1"/>
          <p:nvPr/>
        </p:nvSpPr>
        <p:spPr>
          <a:xfrm>
            <a:off x="4681728" y="3493008"/>
            <a:ext cx="2834640" cy="384048"/>
          </a:xfrm>
          <a:prstGeom prst="rect">
            <a:avLst/>
          </a:prstGeom>
          <a:noFill/>
          <a:ln/>
        </p:spPr>
        <p:txBody>
          <a:bodyPr wrap="square" lIns="0" tIns="0" rIns="0" bIns="0" rtlCol="0" anchor="ctr"/>
          <a:lstStyle/>
          <a:p>
            <a:pPr indent="0" marL="0">
              <a:buNone/>
            </a:pPr>
            <a:r>
              <a:rPr lang="en-US" sz="1700" b="1" dirty="0">
                <a:solidFill>
                  <a:schemeClr val="bg1"/>
                </a:solidFill>
              </a:rPr>
              <a:t>Q1 · Forecast &amp; Hedge</a:t>
            </a:r>
            <a:endParaRPr lang="en-US" sz="1700" dirty="0"/>
          </a:p>
        </p:txBody>
      </p:sp>
      <p:sp>
        <p:nvSpPr>
          <p:cNvPr id="14" name="header_3"/>
          <p:cNvSpPr txBox="1"/>
          <p:nvPr/>
        </p:nvSpPr>
        <p:spPr>
          <a:xfrm>
            <a:off x="8339328" y="3493008"/>
            <a:ext cx="2834640" cy="384048"/>
          </a:xfrm>
          <a:prstGeom prst="rect">
            <a:avLst/>
          </a:prstGeom>
          <a:noFill/>
          <a:ln/>
        </p:spPr>
        <p:txBody>
          <a:bodyPr wrap="square" lIns="0" tIns="0" rIns="0" bIns="0" rtlCol="0" anchor="ctr"/>
          <a:lstStyle/>
          <a:p>
            <a:pPr indent="0" marL="0">
              <a:buNone/>
            </a:pPr>
            <a:r>
              <a:rPr lang="en-US" sz="1700" b="1" dirty="0">
                <a:solidFill>
                  <a:schemeClr val="tx2"/>
                </a:solidFill>
              </a:rPr>
              <a:t>Q2 · Investment Project</a:t>
            </a:r>
            <a:endParaRPr lang="en-US" sz="1700" dirty="0"/>
          </a:p>
        </p:txBody>
      </p:sp>
      <p:sp>
        <p:nvSpPr>
          <p:cNvPr id="15" name="bullets_1"/>
          <p:cNvSpPr txBox="1"/>
          <p:nvPr/>
        </p:nvSpPr>
        <p:spPr>
          <a:xfrm>
            <a:off x="1024128" y="4005072"/>
            <a:ext cx="2926080" cy="2148840"/>
          </a:xfrm>
          <a:prstGeom prst="rect">
            <a:avLst/>
          </a:prstGeom>
          <a:noFill/>
          <a:ln/>
        </p:spPr>
        <p:txBody>
          <a:bodyPr wrap="square" lIns="0" tIns="0" rIns="0" bIns="0" rtlCol="0" anchor="t"/>
          <a:lstStyle/>
          <a:p>
            <a:pPr marL="190500" indent="-190500">
              <a:lnSpc>
                <a:spcPct val="112000"/>
              </a:lnSpc>
              <a:spcAft>
                <a:spcPts val="900"/>
              </a:spcAft>
              <a:buSzPct val="100000"/>
              <a:buChar char="•"/>
            </a:pPr>
            <a:r>
              <a:rPr lang="en-US" sz="1500" dirty="0">
                <a:solidFill>
                  <a:schemeClr val="bg1"/>
                </a:solidFill>
              </a:rPr>
              <a:t>Beta and CAPM</a:t>
            </a:r>
            <a:br/>
            <a:pPr indent="0" marL="0">
              <a:lnSpc>
                <a:spcPct val="112000"/>
              </a:lnSpc>
              <a:spcAft>
                <a:spcPts val="900"/>
              </a:spcAft>
              <a:buNone/>
            </a:pPr>
            <a:r>
              <a:rPr lang="en-US" sz="1500" dirty="0">
                <a:solidFill>
                  <a:schemeClr val="bg1"/>
                </a:solidFill>
              </a:rPr>
              <a:t>against the Nasdaq</a:t>
            </a:r>
            <a:endParaRPr lang="en-US" sz="1500" dirty="0"/>
          </a:p>
          <a:p>
            <a:pPr marL="190500" indent="-190500">
              <a:lnSpc>
                <a:spcPct val="112000"/>
              </a:lnSpc>
              <a:spcAft>
                <a:spcPts val="900"/>
              </a:spcAft>
              <a:buSzPct val="100000"/>
              <a:buChar char="•"/>
            </a:pPr>
            <a:r>
              <a:rPr lang="en-US" sz="1500" dirty="0">
                <a:solidFill>
                  <a:schemeClr val="bg1"/>
                </a:solidFill>
              </a:rPr>
              <a:t>Over- or undervalued on the</a:t>
            </a:r>
            <a:br/>
            <a:pPr indent="0" marL="0">
              <a:lnSpc>
                <a:spcPct val="112000"/>
              </a:lnSpc>
              <a:spcAft>
                <a:spcPts val="900"/>
              </a:spcAft>
              <a:buNone/>
            </a:pPr>
            <a:r>
              <a:rPr lang="en-US" sz="1500" dirty="0">
                <a:solidFill>
                  <a:schemeClr val="bg1"/>
                </a:solidFill>
              </a:rPr>
              <a:t>Security Market Line?</a:t>
            </a:r>
            <a:endParaRPr lang="en-US" sz="1500" dirty="0"/>
          </a:p>
          <a:p>
            <a:pPr marL="190500" indent="-190500">
              <a:lnSpc>
                <a:spcPct val="112000"/>
              </a:lnSpc>
              <a:spcAft>
                <a:spcPts val="900"/>
              </a:spcAft>
              <a:buSzPct val="100000"/>
              <a:buChar char="•"/>
            </a:pPr>
            <a:r>
              <a:rPr lang="en-US" sz="1500" dirty="0">
                <a:solidFill>
                  <a:schemeClr val="bg1"/>
                </a:solidFill>
              </a:rPr>
              <a:t>Does holding both diversify?</a:t>
            </a:r>
            <a:endParaRPr lang="en-US" sz="1500" dirty="0"/>
          </a:p>
        </p:txBody>
      </p:sp>
      <p:sp>
        <p:nvSpPr>
          <p:cNvPr id="16" name="bullets_2"/>
          <p:cNvSpPr txBox="1"/>
          <p:nvPr/>
        </p:nvSpPr>
        <p:spPr>
          <a:xfrm>
            <a:off x="4681728" y="4005072"/>
            <a:ext cx="2926080" cy="2148840"/>
          </a:xfrm>
          <a:prstGeom prst="rect">
            <a:avLst/>
          </a:prstGeom>
          <a:noFill/>
          <a:ln/>
        </p:spPr>
        <p:txBody>
          <a:bodyPr wrap="square" lIns="0" tIns="0" rIns="0" bIns="0" rtlCol="0" anchor="t"/>
          <a:lstStyle/>
          <a:p>
            <a:pPr marL="190500" indent="-190500">
              <a:lnSpc>
                <a:spcPct val="112000"/>
              </a:lnSpc>
              <a:spcAft>
                <a:spcPts val="900"/>
              </a:spcAft>
              <a:buSzPct val="100000"/>
              <a:buChar char="•"/>
            </a:pPr>
            <a:r>
              <a:rPr lang="en-US" sz="1500" dirty="0">
                <a:solidFill>
                  <a:schemeClr val="bg1"/>
                </a:solidFill>
              </a:rPr>
              <a:t>Intel's closing price</a:t>
            </a:r>
            <a:br/>
            <a:pPr indent="0" marL="0">
              <a:lnSpc>
                <a:spcPct val="112000"/>
              </a:lnSpc>
              <a:spcAft>
                <a:spcPts val="900"/>
              </a:spcAft>
              <a:buNone/>
            </a:pPr>
            <a:r>
              <a:rPr lang="en-US" sz="1500" dirty="0">
                <a:solidFill>
                  <a:schemeClr val="bg1"/>
                </a:solidFill>
              </a:rPr>
              <a:t>six months ahead</a:t>
            </a:r>
            <a:endParaRPr lang="en-US" sz="1500" dirty="0"/>
          </a:p>
          <a:p>
            <a:pPr marL="190500" indent="-190500">
              <a:lnSpc>
                <a:spcPct val="112000"/>
              </a:lnSpc>
              <a:spcAft>
                <a:spcPts val="900"/>
              </a:spcAft>
              <a:buSzPct val="100000"/>
              <a:buChar char="•"/>
            </a:pPr>
            <a:r>
              <a:rPr lang="en-US" sz="1500" dirty="0">
                <a:solidFill>
                  <a:schemeClr val="bg1"/>
                </a:solidFill>
              </a:rPr>
              <a:t>Hedging the downside:</a:t>
            </a:r>
            <a:br/>
            <a:pPr indent="0" marL="0">
              <a:lnSpc>
                <a:spcPct val="112000"/>
              </a:lnSpc>
              <a:spcAft>
                <a:spcPts val="900"/>
              </a:spcAft>
              <a:buNone/>
            </a:pPr>
            <a:r>
              <a:rPr lang="en-US" sz="1500" dirty="0">
                <a:solidFill>
                  <a:schemeClr val="bg1"/>
                </a:solidFill>
              </a:rPr>
              <a:t>futures or options?</a:t>
            </a:r>
            <a:endParaRPr lang="en-US" sz="1500" dirty="0"/>
          </a:p>
        </p:txBody>
      </p:sp>
      <p:sp>
        <p:nvSpPr>
          <p:cNvPr id="17" name="bullets_3"/>
          <p:cNvSpPr txBox="1"/>
          <p:nvPr/>
        </p:nvSpPr>
        <p:spPr>
          <a:xfrm>
            <a:off x="8339328" y="4005072"/>
            <a:ext cx="2926080" cy="2148840"/>
          </a:xfrm>
          <a:prstGeom prst="rect">
            <a:avLst/>
          </a:prstGeom>
          <a:noFill/>
          <a:ln/>
        </p:spPr>
        <p:txBody>
          <a:bodyPr wrap="square" lIns="0" tIns="0" rIns="0" bIns="0" rtlCol="0" anchor="t"/>
          <a:lstStyle/>
          <a:p>
            <a:pPr marL="190500" indent="-190500">
              <a:lnSpc>
                <a:spcPct val="112000"/>
              </a:lnSpc>
              <a:spcAft>
                <a:spcPts val="900"/>
              </a:spcAft>
              <a:buSzPct val="100000"/>
              <a:buChar char="•"/>
            </a:pPr>
            <a:r>
              <a:rPr lang="en-US" sz="1500" dirty="0">
                <a:solidFill>
                  <a:schemeClr val="tx2"/>
                </a:solidFill>
              </a:rPr>
              <a:t>$200,000 revenue and</a:t>
            </a:r>
            <a:br/>
            <a:pPr indent="0" marL="0">
              <a:lnSpc>
                <a:spcPct val="112000"/>
              </a:lnSpc>
              <a:spcAft>
                <a:spcPts val="900"/>
              </a:spcAft>
              <a:buNone/>
            </a:pPr>
            <a:r>
              <a:rPr lang="en-US" sz="1500" dirty="0">
                <a:solidFill>
                  <a:schemeClr val="tx2"/>
                </a:solidFill>
              </a:rPr>
              <a:t>$100,000 costs a year</a:t>
            </a:r>
            <a:endParaRPr lang="en-US" sz="1500" dirty="0"/>
          </a:p>
          <a:p>
            <a:pPr marL="190500" indent="-190500">
              <a:lnSpc>
                <a:spcPct val="112000"/>
              </a:lnSpc>
              <a:spcAft>
                <a:spcPts val="900"/>
              </a:spcAft>
              <a:buSzPct val="100000"/>
              <a:buChar char="•"/>
            </a:pPr>
            <a:r>
              <a:rPr lang="en-US" sz="1500" dirty="0">
                <a:solidFill>
                  <a:schemeClr val="tx2"/>
                </a:solidFill>
              </a:rPr>
              <a:t>NPV and IRR in the base case</a:t>
            </a:r>
            <a:endParaRPr lang="en-US" sz="1500" dirty="0"/>
          </a:p>
          <a:p>
            <a:pPr marL="190500" indent="-190500">
              <a:lnSpc>
                <a:spcPct val="112000"/>
              </a:lnSpc>
              <a:spcAft>
                <a:spcPts val="900"/>
              </a:spcAft>
              <a:buSzPct val="100000"/>
              <a:buChar char="•"/>
            </a:pPr>
            <a:r>
              <a:rPr lang="en-US" sz="1500" dirty="0">
                <a:solidFill>
                  <a:schemeClr val="tx2"/>
                </a:solidFill>
              </a:rPr>
              <a:t>Monte Carlo:</a:t>
            </a:r>
            <a:br/>
            <a:pPr indent="0" marL="0">
              <a:lnSpc>
                <a:spcPct val="112000"/>
              </a:lnSpc>
              <a:spcAft>
                <a:spcPts val="900"/>
              </a:spcAft>
              <a:buNone/>
            </a:pPr>
            <a:r>
              <a:rPr lang="en-US" sz="1500" dirty="0">
                <a:solidFill>
                  <a:schemeClr val="tx2"/>
                </a:solidFill>
              </a:rPr>
              <a:t>10,000 simulated futures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9184"/>
            <a:ext cx="11274552" cy="1024128"/>
          </a:xfrm>
          <a:prstGeom prst="rect">
            <a:avLst/>
          </a:prstGeom>
          <a:noFill/>
          <a:ln/>
        </p:spPr>
        <p:txBody>
          <a:bodyPr wrap="square" lIns="0" tIns="0" rIns="0" bIns="0" rtlCol="0" anchor="ctr"/>
          <a:lstStyle/>
          <a:p>
            <a:pPr algn="ctr" indent="0" marL="0">
              <a:buNone/>
            </a:pPr>
            <a:r>
              <a:rPr lang="en-US" sz="6400" b="1" dirty="0">
                <a:solidFill>
                  <a:schemeClr val="accent1"/>
                </a:solidFill>
              </a:rPr>
              <a:t>Key Findings</a:t>
            </a:r>
            <a:endParaRPr lang="en-US" sz="6400" dirty="0"/>
          </a:p>
        </p:txBody>
      </p:sp>
      <p:sp>
        <p:nvSpPr>
          <p:cNvPr id="3" name="card_grad_1"/>
          <p:cNvSpPr/>
          <p:nvPr/>
        </p:nvSpPr>
        <p:spPr>
          <a:xfrm>
            <a:off x="694944" y="1508760"/>
            <a:ext cx="3493008" cy="3456432"/>
          </a:xfrm>
          <a:prstGeom prst="roundRect">
            <a:avLst>
              <a:gd name="adj" fmla="val 9524"/>
            </a:avLst>
          </a:prstGeom>
          <a:gradFill rotWithShape="1">
            <a:gsLst>
              <a:gs pos="0">
                <a:srgbClr val="469FAC"/>
              </a:gs>
              <a:gs pos="100000">
                <a:srgbClr val="63B4B6"/>
              </a:gs>
            </a:gsLst>
            <a:lin ang="0" scaled="1"/>
          </a:gradFill>
          <a:ln/>
        </p:spPr>
      </p:sp>
      <p:sp>
        <p:nvSpPr>
          <p:cNvPr id="4" name="card_grad_2"/>
          <p:cNvSpPr/>
          <p:nvPr/>
        </p:nvSpPr>
        <p:spPr>
          <a:xfrm>
            <a:off x="4352544" y="1508760"/>
            <a:ext cx="3493008" cy="3456432"/>
          </a:xfrm>
          <a:prstGeom prst="roundRect">
            <a:avLst>
              <a:gd name="adj" fmla="val 9524"/>
            </a:avLst>
          </a:prstGeom>
          <a:gradFill rotWithShape="1">
            <a:gsLst>
              <a:gs pos="0">
                <a:srgbClr val="8EBFC7"/>
              </a:gs>
              <a:gs pos="100000">
                <a:srgbClr val="9FCCCF"/>
              </a:gs>
            </a:gsLst>
            <a:lin ang="0" scaled="1"/>
          </a:gradFill>
          <a:ln/>
        </p:spPr>
      </p:sp>
      <p:sp>
        <p:nvSpPr>
          <p:cNvPr id="5" name="card_grad_3"/>
          <p:cNvSpPr/>
          <p:nvPr/>
        </p:nvSpPr>
        <p:spPr>
          <a:xfrm>
            <a:off x="8010144" y="1508760"/>
            <a:ext cx="3493008" cy="3456432"/>
          </a:xfrm>
          <a:prstGeom prst="roundRect">
            <a:avLst>
              <a:gd name="adj" fmla="val 9524"/>
            </a:avLst>
          </a:prstGeom>
          <a:gradFill rotWithShape="1">
            <a:gsLst>
              <a:gs pos="0">
                <a:srgbClr val="CFE1E4"/>
              </a:gs>
              <a:gs pos="100000">
                <a:srgbClr val="D9E9E8"/>
              </a:gs>
            </a:gsLst>
            <a:lin ang="0" scaled="1"/>
          </a:gradFill>
          <a:ln/>
        </p:spPr>
      </p:sp>
      <p:pic>
        <p:nvPicPr>
          <p:cNvPr id="6" name="NVIDIA logo" descr="NVIDIA logo">    </p:cNvPr>
          <p:cNvPicPr>
            <a:picLocks noChangeAspect="1"/>
          </p:cNvPicPr>
          <p:nvPr/>
        </p:nvPicPr>
        <p:blipFill>
          <a:blip r:embed="rId1"/>
          <a:stretch>
            <a:fillRect/>
          </a:stretch>
        </p:blipFill>
        <p:spPr>
          <a:xfrm>
            <a:off x="1700784" y="1700784"/>
            <a:ext cx="1481328" cy="1081674"/>
          </a:xfrm>
          <a:prstGeom prst="rect">
            <a:avLst/>
          </a:prstGeom>
        </p:spPr>
      </p:pic>
      <p:pic>
        <p:nvPicPr>
          <p:cNvPr id="7" name="Intel logo" descr="Intel logo">    </p:cNvPr>
          <p:cNvPicPr>
            <a:picLocks noChangeAspect="1"/>
          </p:cNvPicPr>
          <p:nvPr/>
        </p:nvPicPr>
        <p:blipFill>
          <a:blip r:embed="rId2"/>
          <a:stretch>
            <a:fillRect/>
          </a:stretch>
        </p:blipFill>
        <p:spPr>
          <a:xfrm>
            <a:off x="5285232" y="1700784"/>
            <a:ext cx="1627632" cy="1076266"/>
          </a:xfrm>
          <a:prstGeom prst="rect">
            <a:avLst/>
          </a:prstGeom>
        </p:spPr>
      </p:pic>
      <p:sp>
        <p:nvSpPr>
          <p:cNvPr id="8" name="project_box"/>
          <p:cNvSpPr/>
          <p:nvPr/>
        </p:nvSpPr>
        <p:spPr>
          <a:xfrm>
            <a:off x="8942832" y="1700784"/>
            <a:ext cx="1627632" cy="1078992"/>
          </a:xfrm>
          <a:prstGeom prst="rect">
            <a:avLst/>
          </a:prstGeom>
          <a:solidFill>
            <a:schemeClr val="bg1"/>
          </a:solidFill>
          <a:ln/>
        </p:spPr>
      </p:sp>
      <p:sp>
        <p:nvSpPr>
          <p:cNvPr id="9" name="project_box_text"/>
          <p:cNvSpPr txBox="1"/>
          <p:nvPr/>
        </p:nvSpPr>
        <p:spPr>
          <a:xfrm>
            <a:off x="8942832" y="1700784"/>
            <a:ext cx="1627632" cy="1078992"/>
          </a:xfrm>
          <a:prstGeom prst="rect">
            <a:avLst/>
          </a:prstGeom>
          <a:noFill/>
          <a:ln/>
        </p:spPr>
        <p:txBody>
          <a:bodyPr wrap="square" lIns="0" tIns="0" rIns="0" bIns="0" rtlCol="0" anchor="ctr"/>
          <a:lstStyle/>
          <a:p>
            <a:pPr algn="ctr" indent="0" marL="0">
              <a:buNone/>
            </a:pPr>
            <a:r>
              <a:rPr lang="en-US" sz="2600" b="1" dirty="0">
                <a:solidFill>
                  <a:schemeClr val="accent1"/>
                </a:solidFill>
              </a:rPr>
              <a:t>$500,000</a:t>
            </a:r>
            <a:endParaRPr lang="en-US" sz="2600" dirty="0"/>
          </a:p>
          <a:p>
            <a:pPr algn="ctr" indent="0" marL="0">
              <a:buNone/>
            </a:pPr>
            <a:r>
              <a:rPr lang="en-US" sz="1300" dirty="0">
                <a:solidFill>
                  <a:schemeClr val="tx2"/>
                </a:solidFill>
              </a:rPr>
              <a:t>five-year project</a:t>
            </a:r>
            <a:endParaRPr lang="en-US" sz="2600" dirty="0"/>
          </a:p>
        </p:txBody>
      </p:sp>
      <p:sp>
        <p:nvSpPr>
          <p:cNvPr id="10" name="bullets_1"/>
          <p:cNvSpPr txBox="1"/>
          <p:nvPr/>
        </p:nvSpPr>
        <p:spPr>
          <a:xfrm>
            <a:off x="1024128" y="2971800"/>
            <a:ext cx="2926080" cy="1901952"/>
          </a:xfrm>
          <a:prstGeom prst="rect">
            <a:avLst/>
          </a:prstGeom>
          <a:noFill/>
          <a:ln/>
        </p:spPr>
        <p:txBody>
          <a:bodyPr wrap="square" lIns="0" tIns="0" rIns="0" bIns="0" rtlCol="0" anchor="t"/>
          <a:lstStyle/>
          <a:p>
            <a:pPr marL="190500" indent="-190500">
              <a:lnSpc>
                <a:spcPct val="112000"/>
              </a:lnSpc>
              <a:spcAft>
                <a:spcPts val="900"/>
              </a:spcAft>
              <a:buSzPct val="100000"/>
              <a:buChar char="•"/>
            </a:pPr>
            <a:r>
              <a:rPr lang="en-US" sz="1400" dirty="0">
                <a:solidFill>
                  <a:schemeClr val="bg1"/>
                </a:solidFill>
              </a:rPr>
              <a:t>Beta 1.93: almost twice</a:t>
            </a:r>
            <a:br/>
            <a:pPr indent="0" marL="0">
              <a:lnSpc>
                <a:spcPct val="112000"/>
              </a:lnSpc>
              <a:spcAft>
                <a:spcPts val="900"/>
              </a:spcAft>
              <a:buNone/>
            </a:pPr>
            <a:r>
              <a:rPr lang="en-US" sz="1400" dirty="0">
                <a:solidFill>
                  <a:schemeClr val="bg1"/>
                </a:solidFill>
              </a:rPr>
              <a:t>the Nasdaq's moves</a:t>
            </a:r>
            <a:endParaRPr lang="en-US" sz="1400" dirty="0"/>
          </a:p>
          <a:p>
            <a:pPr marL="190500" indent="-190500">
              <a:lnSpc>
                <a:spcPct val="112000"/>
              </a:lnSpc>
              <a:spcAft>
                <a:spcPts val="900"/>
              </a:spcAft>
              <a:buSzPct val="100000"/>
              <a:buChar char="•"/>
            </a:pPr>
            <a:r>
              <a:rPr lang="en-US" sz="1400" dirty="0">
                <a:solidFill>
                  <a:schemeClr val="bg1"/>
                </a:solidFill>
              </a:rPr>
              <a:t>Above the SML,</a:t>
            </a:r>
            <a:br/>
            <a:pPr indent="0" marL="0">
              <a:lnSpc>
                <a:spcPct val="112000"/>
              </a:lnSpc>
              <a:spcAft>
                <a:spcPts val="900"/>
              </a:spcAft>
              <a:buNone/>
            </a:pPr>
            <a:r>
              <a:rPr lang="en-US" sz="1400" dirty="0">
                <a:solidFill>
                  <a:schemeClr val="bg1"/>
                </a:solidFill>
              </a:rPr>
              <a:t>alpha significant (p = 0.013)</a:t>
            </a:r>
            <a:endParaRPr lang="en-US" sz="1400" dirty="0"/>
          </a:p>
          <a:p>
            <a:pPr marL="190500" indent="-190500">
              <a:lnSpc>
                <a:spcPct val="112000"/>
              </a:lnSpc>
              <a:spcAft>
                <a:spcPts val="900"/>
              </a:spcAft>
              <a:buSzPct val="100000"/>
              <a:buChar char="•"/>
            </a:pPr>
            <a:r>
              <a:rPr lang="en-US" sz="1400" dirty="0">
                <a:solidFill>
                  <a:schemeClr val="bg1"/>
                </a:solidFill>
              </a:rPr>
              <a:t>The market explains</a:t>
            </a:r>
            <a:br/>
            <a:pPr indent="0" marL="0">
              <a:lnSpc>
                <a:spcPct val="112000"/>
              </a:lnSpc>
              <a:spcAft>
                <a:spcPts val="900"/>
              </a:spcAft>
              <a:buNone/>
            </a:pPr>
            <a:r>
              <a:rPr lang="en-US" sz="1400" dirty="0">
                <a:solidFill>
                  <a:schemeClr val="bg1"/>
                </a:solidFill>
              </a:rPr>
              <a:t>61% of its moves</a:t>
            </a:r>
            <a:endParaRPr lang="en-US" sz="1400" dirty="0"/>
          </a:p>
        </p:txBody>
      </p:sp>
      <p:sp>
        <p:nvSpPr>
          <p:cNvPr id="11" name="bullets_2"/>
          <p:cNvSpPr txBox="1"/>
          <p:nvPr/>
        </p:nvSpPr>
        <p:spPr>
          <a:xfrm>
            <a:off x="4681728" y="2971800"/>
            <a:ext cx="2926080" cy="1901952"/>
          </a:xfrm>
          <a:prstGeom prst="rect">
            <a:avLst/>
          </a:prstGeom>
          <a:noFill/>
          <a:ln/>
        </p:spPr>
        <p:txBody>
          <a:bodyPr wrap="square" lIns="0" tIns="0" rIns="0" bIns="0" rtlCol="0" anchor="t"/>
          <a:lstStyle/>
          <a:p>
            <a:pPr marL="190500" indent="-190500">
              <a:lnSpc>
                <a:spcPct val="112000"/>
              </a:lnSpc>
              <a:spcAft>
                <a:spcPts val="900"/>
              </a:spcAft>
              <a:buSzPct val="100000"/>
              <a:buChar char="•"/>
            </a:pPr>
            <a:r>
              <a:rPr lang="en-US" sz="1400" dirty="0">
                <a:solidFill>
                  <a:schemeClr val="bg1"/>
                </a:solidFill>
              </a:rPr>
              <a:t>Beta 1.84, but the market</a:t>
            </a:r>
            <a:br/>
            <a:pPr indent="0" marL="0">
              <a:lnSpc>
                <a:spcPct val="112000"/>
              </a:lnSpc>
              <a:spcAft>
                <a:spcPts val="900"/>
              </a:spcAft>
              <a:buNone/>
            </a:pPr>
            <a:r>
              <a:rPr lang="en-US" sz="1400" dirty="0">
                <a:solidFill>
                  <a:schemeClr val="bg1"/>
                </a:solidFill>
              </a:rPr>
              <a:t>explains only 27%</a:t>
            </a:r>
            <a:endParaRPr lang="en-US" sz="1400" dirty="0"/>
          </a:p>
          <a:p>
            <a:pPr marL="190500" indent="-190500">
              <a:lnSpc>
                <a:spcPct val="112000"/>
              </a:lnSpc>
              <a:spcAft>
                <a:spcPts val="900"/>
              </a:spcAft>
              <a:buSzPct val="100000"/>
              <a:buChar char="•"/>
            </a:pPr>
            <a:r>
              <a:rPr lang="en-US" sz="1400" dirty="0">
                <a:solidFill>
                  <a:schemeClr val="bg1"/>
                </a:solidFill>
              </a:rPr>
              <a:t>Above the SML,</a:t>
            </a:r>
            <a:br/>
            <a:pPr indent="0" marL="0">
              <a:lnSpc>
                <a:spcPct val="112000"/>
              </a:lnSpc>
              <a:spcAft>
                <a:spcPts val="900"/>
              </a:spcAft>
              <a:buNone/>
            </a:pPr>
            <a:r>
              <a:rPr lang="en-US" sz="1400" dirty="0">
                <a:solidFill>
                  <a:schemeClr val="bg1"/>
                </a:solidFill>
              </a:rPr>
              <a:t>but not significant (p = 0.61)</a:t>
            </a:r>
            <a:endParaRPr lang="en-US" sz="1400" dirty="0"/>
          </a:p>
          <a:p>
            <a:pPr marL="190500" indent="-190500">
              <a:lnSpc>
                <a:spcPct val="112000"/>
              </a:lnSpc>
              <a:spcAft>
                <a:spcPts val="900"/>
              </a:spcAft>
              <a:buSzPct val="100000"/>
              <a:buChar char="•"/>
            </a:pPr>
            <a:r>
              <a:rPr lang="en-US" sz="1400" dirty="0">
                <a:solidFill>
                  <a:schemeClr val="bg1"/>
                </a:solidFill>
              </a:rPr>
              <a:t>Flat forecast at $116,</a:t>
            </a:r>
            <a:br/>
            <a:pPr indent="0" marL="0">
              <a:lnSpc>
                <a:spcPct val="112000"/>
              </a:lnSpc>
              <a:spcAft>
                <a:spcPts val="900"/>
              </a:spcAft>
              <a:buNone/>
            </a:pPr>
            <a:r>
              <a:rPr lang="en-US" sz="1400" dirty="0">
                <a:solidFill>
                  <a:schemeClr val="bg1"/>
                </a:solidFill>
              </a:rPr>
              <a:t>80% range $66–$204</a:t>
            </a:r>
            <a:endParaRPr lang="en-US" sz="1400" dirty="0"/>
          </a:p>
        </p:txBody>
      </p:sp>
      <p:sp>
        <p:nvSpPr>
          <p:cNvPr id="12" name="bullets_3"/>
          <p:cNvSpPr txBox="1"/>
          <p:nvPr/>
        </p:nvSpPr>
        <p:spPr>
          <a:xfrm>
            <a:off x="8339328" y="2971800"/>
            <a:ext cx="2926080" cy="1901952"/>
          </a:xfrm>
          <a:prstGeom prst="rect">
            <a:avLst/>
          </a:prstGeom>
          <a:noFill/>
          <a:ln/>
        </p:spPr>
        <p:txBody>
          <a:bodyPr wrap="square" lIns="0" tIns="0" rIns="0" bIns="0" rtlCol="0" anchor="t"/>
          <a:lstStyle/>
          <a:p>
            <a:pPr marL="190500" indent="-190500">
              <a:lnSpc>
                <a:spcPct val="112000"/>
              </a:lnSpc>
              <a:spcAft>
                <a:spcPts val="900"/>
              </a:spcAft>
              <a:buSzPct val="100000"/>
              <a:buChar char="•"/>
            </a:pPr>
            <a:r>
              <a:rPr lang="en-US" sz="1400" dirty="0">
                <a:solidFill>
                  <a:schemeClr val="tx2"/>
                </a:solidFill>
              </a:rPr>
              <a:t>NPV −$120,921 at 10%</a:t>
            </a:r>
            <a:endParaRPr lang="en-US" sz="1400" dirty="0"/>
          </a:p>
          <a:p>
            <a:pPr marL="190500" indent="-190500">
              <a:lnSpc>
                <a:spcPct val="112000"/>
              </a:lnSpc>
              <a:spcAft>
                <a:spcPts val="900"/>
              </a:spcAft>
              <a:buSzPct val="100000"/>
              <a:buChar char="•"/>
            </a:pPr>
            <a:r>
              <a:rPr lang="en-US" sz="1400" dirty="0">
                <a:solidFill>
                  <a:schemeClr val="tx2"/>
                </a:solidFill>
              </a:rPr>
              <a:t>IRR 0%: only returns its cost</a:t>
            </a:r>
            <a:endParaRPr lang="en-US" sz="1400" dirty="0"/>
          </a:p>
          <a:p>
            <a:pPr marL="190500" indent="-190500">
              <a:lnSpc>
                <a:spcPct val="112000"/>
              </a:lnSpc>
              <a:spcAft>
                <a:spcPts val="900"/>
              </a:spcAft>
              <a:buSzPct val="100000"/>
              <a:buChar char="•"/>
            </a:pPr>
            <a:r>
              <a:rPr lang="en-US" sz="1400" dirty="0">
                <a:solidFill>
                  <a:schemeClr val="tx2"/>
                </a:solidFill>
              </a:rPr>
              <a:t>Value created in only 1.2%</a:t>
            </a:r>
            <a:br/>
            <a:pPr indent="0" marL="0">
              <a:lnSpc>
                <a:spcPct val="112000"/>
              </a:lnSpc>
              <a:spcAft>
                <a:spcPts val="900"/>
              </a:spcAft>
              <a:buNone/>
            </a:pPr>
            <a:r>
              <a:rPr lang="en-US" sz="1400" dirty="0">
                <a:solidFill>
                  <a:schemeClr val="tx2"/>
                </a:solidFill>
              </a:rPr>
              <a:t>of 10,000 simulations</a:t>
            </a:r>
            <a:endParaRPr lang="en-US" sz="1400" dirty="0"/>
          </a:p>
          <a:p>
            <a:pPr marL="190500" indent="-190500">
              <a:lnSpc>
                <a:spcPct val="112000"/>
              </a:lnSpc>
              <a:spcAft>
                <a:spcPts val="900"/>
              </a:spcAft>
              <a:buSzPct val="100000"/>
              <a:buChar char="•"/>
            </a:pPr>
            <a:r>
              <a:rPr lang="en-US" sz="1400" dirty="0">
                <a:solidFill>
                  <a:schemeClr val="tx2"/>
                </a:solidFill>
              </a:rPr>
              <a:t>Break-even outlay: $379,079</a:t>
            </a:r>
            <a:endParaRPr lang="en-US" sz="1400" dirty="0"/>
          </a:p>
        </p:txBody>
      </p:sp>
      <p:sp>
        <p:nvSpPr>
          <p:cNvPr id="13" name="summary_bar"/>
          <p:cNvSpPr/>
          <p:nvPr/>
        </p:nvSpPr>
        <p:spPr>
          <a:xfrm>
            <a:off x="603504" y="5120640"/>
            <a:ext cx="10972800" cy="1188720"/>
          </a:xfrm>
          <a:prstGeom prst="roundRect">
            <a:avLst>
              <a:gd name="adj" fmla="val 30769"/>
            </a:avLst>
          </a:prstGeom>
          <a:solidFill>
            <a:schemeClr val="accent5"/>
          </a:solidFill>
          <a:ln/>
        </p:spPr>
      </p:sp>
      <p:sp>
        <p:nvSpPr>
          <p:cNvPr id="14" name="summary_bar_text"/>
          <p:cNvSpPr txBox="1"/>
          <p:nvPr/>
        </p:nvSpPr>
        <p:spPr>
          <a:xfrm>
            <a:off x="877824" y="5120640"/>
            <a:ext cx="10424160" cy="1188720"/>
          </a:xfrm>
          <a:prstGeom prst="rect">
            <a:avLst/>
          </a:prstGeom>
          <a:noFill/>
          <a:ln/>
        </p:spPr>
        <p:txBody>
          <a:bodyPr wrap="square" lIns="0" tIns="0" rIns="0" bIns="0" rtlCol="0" anchor="ctr"/>
          <a:lstStyle/>
          <a:p>
            <a:pPr algn="ctr" indent="0" marL="0">
              <a:buNone/>
            </a:pPr>
            <a:r>
              <a:rPr lang="en-US" sz="1500" spc="150" kern="0" dirty="0">
                <a:solidFill>
                  <a:schemeClr val="bg1"/>
                </a:solidFill>
              </a:rPr>
              <a:t>Hold NVIDIA and Intel as a satellite position, not the core: a correlation of 0.23 lowers company risk, but a portfolio beta of 1.88 keeps market risk high, so protect Intel with puts. Reject the project on current terms.</a:t>
            </a:r>
            <a:endParaRPr lang="en-US" sz="1500" dirty="0"/>
          </a:p>
        </p:txBody>
      </p:sp>
    </p:spTree>
  </p:cSld>
  <p:clrMapOvr>
    <a:masterClrMapping/>
  </p:clrMapOvr>
</p:sld>
</file>

<file path=ppt/theme/theme1.xml><?xml version="1.0" encoding="utf-8"?>
<a:theme xmlns:a="http://schemas.openxmlformats.org/drawingml/2006/main" name="BUS713 Teal">
  <a:themeElements>
    <a:clrScheme name="BUS713 Teal">
      <a:dk1>
        <a:srgbClr val="202727"/>
      </a:dk1>
      <a:lt1>
        <a:srgbClr val="FFFFFF"/>
      </a:lt1>
      <a:dk2>
        <a:srgbClr val="4D5D5F"/>
      </a:dk2>
      <a:lt2>
        <a:srgbClr val="E4ECEE"/>
      </a:lt2>
      <a:accent1>
        <a:srgbClr val="439FA9"/>
      </a:accent1>
      <a:accent2>
        <a:srgbClr val="54A9B3"/>
      </a:accent2>
      <a:accent3>
        <a:srgbClr val="96C5CC"/>
      </a:accent3>
      <a:accent4>
        <a:srgbClr val="D6E5E7"/>
      </a:accent4>
      <a:accent5>
        <a:srgbClr val="A7A6A7"/>
      </a:accent5>
      <a:accent6>
        <a:srgbClr val="61B1B8"/>
      </a:accent6>
      <a:hlink>
        <a:srgbClr val="439FA9"/>
      </a:hlink>
      <a:folHlink>
        <a:srgbClr val="4D5D5F"/>
      </a:folHlink>
    </a:clrScheme>
    <a:fontScheme name="BUS713 Teal">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 713 Financial Analytics - Assessment 2</dc:title>
  <dc:subject>PptxGenJS Presentation</dc:subject>
  <dc:creator>Adam Heier</dc:creator>
  <cp:lastModifiedBy>Adam Heier</cp:lastModifiedBy>
  <cp:revision>1</cp:revision>
  <dcterms:created xsi:type="dcterms:W3CDTF">2026-10-07T04:49:57Z</dcterms:created>
  <dcterms:modified xsi:type="dcterms:W3CDTF">2026-10-07T04:49:57Z</dcterms:modified>
</cp:coreProperties>
</file>